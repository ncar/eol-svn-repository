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257" r:id="rId4"/>
    <p:sldId id="260" r:id="rId5"/>
    <p:sldId id="262" r:id="rId6"/>
    <p:sldId id="261" r:id="rId7"/>
    <p:sldId id="264" r:id="rId8"/>
    <p:sldId id="265" r:id="rId9"/>
    <p:sldId id="266" r:id="rId10"/>
    <p:sldId id="263" r:id="rId11"/>
    <p:sldId id="267" r:id="rId12"/>
    <p:sldId id="268" r:id="rId13"/>
    <p:sldId id="269" r:id="rId14"/>
    <p:sldId id="275" r:id="rId15"/>
    <p:sldId id="277" r:id="rId16"/>
    <p:sldId id="271" r:id="rId17"/>
    <p:sldId id="272" r:id="rId18"/>
    <p:sldId id="273" r:id="rId19"/>
    <p:sldId id="274" r:id="rId20"/>
    <p:sldId id="270" r:id="rId21"/>
    <p:sldId id="279" r:id="rId22"/>
    <p:sldId id="278" r:id="rId23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1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67B5B-03A8-4641-BC87-34797C8D9F09}" type="doc">
      <dgm:prSet loTypeId="urn:microsoft.com/office/officeart/2005/8/layout/process2" loCatId="process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98CE38-E079-46CB-8414-A9A7D46E1AA7}">
      <dgm:prSet phldrT="[Text]"/>
      <dgm:spPr/>
      <dgm:t>
        <a:bodyPr/>
        <a:lstStyle/>
        <a:p>
          <a:r>
            <a:rPr lang="en-US" dirty="0" smtClean="0"/>
            <a:t>Data files rewritten with consistent missing value</a:t>
          </a:r>
          <a:endParaRPr lang="en-US" dirty="0"/>
        </a:p>
      </dgm:t>
    </dgm:pt>
    <dgm:pt modelId="{CE78F346-03E2-4CAE-912A-F72CAAEDB2C2}" type="parTrans" cxnId="{86A13662-4CF3-4704-9F1A-831659402894}">
      <dgm:prSet/>
      <dgm:spPr/>
      <dgm:t>
        <a:bodyPr/>
        <a:lstStyle/>
        <a:p>
          <a:endParaRPr lang="en-US"/>
        </a:p>
      </dgm:t>
    </dgm:pt>
    <dgm:pt modelId="{1C9088BF-E122-4EED-8894-21017ABBF2EE}" type="sibTrans" cxnId="{86A13662-4CF3-4704-9F1A-831659402894}">
      <dgm:prSet/>
      <dgm:spPr/>
      <dgm:t>
        <a:bodyPr/>
        <a:lstStyle/>
        <a:p>
          <a:endParaRPr lang="en-US" dirty="0"/>
        </a:p>
      </dgm:t>
    </dgm:pt>
    <dgm:pt modelId="{75D21A45-DF81-431D-89A7-338B1FFBFDD0}">
      <dgm:prSet phldrT="[Text]"/>
      <dgm:spPr/>
      <dgm:t>
        <a:bodyPr/>
        <a:lstStyle/>
        <a:p>
          <a:r>
            <a:rPr lang="en-US" dirty="0" smtClean="0"/>
            <a:t>Gnuplot template file read</a:t>
          </a:r>
          <a:endParaRPr lang="en-US" dirty="0"/>
        </a:p>
      </dgm:t>
    </dgm:pt>
    <dgm:pt modelId="{9E843211-4748-4401-B3AB-2237C88C6488}" type="parTrans" cxnId="{AD8A1DB9-47B2-40A3-A0A6-EA46BFE600B7}">
      <dgm:prSet/>
      <dgm:spPr/>
      <dgm:t>
        <a:bodyPr/>
        <a:lstStyle/>
        <a:p>
          <a:endParaRPr lang="en-US"/>
        </a:p>
      </dgm:t>
    </dgm:pt>
    <dgm:pt modelId="{7B2EB66B-4411-4495-9929-3B6C7EB76334}" type="sibTrans" cxnId="{AD8A1DB9-47B2-40A3-A0A6-EA46BFE600B7}">
      <dgm:prSet/>
      <dgm:spPr/>
      <dgm:t>
        <a:bodyPr/>
        <a:lstStyle/>
        <a:p>
          <a:endParaRPr lang="en-US" dirty="0"/>
        </a:p>
      </dgm:t>
    </dgm:pt>
    <dgm:pt modelId="{6B44341E-8E07-4B54-A8FB-5E0107115F9C}">
      <dgm:prSet phldrT="[Text]"/>
      <dgm:spPr/>
      <dgm:t>
        <a:bodyPr/>
        <a:lstStyle/>
        <a:p>
          <a:r>
            <a:rPr lang="en-US" dirty="0" smtClean="0"/>
            <a:t>Gnuplot scripts generated for new data files</a:t>
          </a:r>
          <a:endParaRPr lang="en-US" dirty="0"/>
        </a:p>
      </dgm:t>
    </dgm:pt>
    <dgm:pt modelId="{349B7500-523E-4359-9FE0-212C63AB0697}" type="parTrans" cxnId="{DD7B13C3-E92E-4DA8-8401-C81DB4F18D44}">
      <dgm:prSet/>
      <dgm:spPr/>
      <dgm:t>
        <a:bodyPr/>
        <a:lstStyle/>
        <a:p>
          <a:endParaRPr lang="en-US"/>
        </a:p>
      </dgm:t>
    </dgm:pt>
    <dgm:pt modelId="{0374E2FC-B248-4FE5-8624-265768DD3241}" type="sibTrans" cxnId="{DD7B13C3-E92E-4DA8-8401-C81DB4F18D44}">
      <dgm:prSet/>
      <dgm:spPr/>
      <dgm:t>
        <a:bodyPr/>
        <a:lstStyle/>
        <a:p>
          <a:endParaRPr lang="en-US" dirty="0"/>
        </a:p>
      </dgm:t>
    </dgm:pt>
    <dgm:pt modelId="{4BF422FE-FAB6-4545-89FD-40C8A6E219BE}">
      <dgm:prSet/>
      <dgm:spPr/>
      <dgm:t>
        <a:bodyPr/>
        <a:lstStyle/>
        <a:p>
          <a:r>
            <a:rPr lang="en-US" dirty="0" smtClean="0"/>
            <a:t>New scripts run</a:t>
          </a:r>
          <a:endParaRPr lang="en-US" dirty="0"/>
        </a:p>
      </dgm:t>
    </dgm:pt>
    <dgm:pt modelId="{DE7E5CC9-7FCD-4A53-B5B3-237F4BAA548B}" type="parTrans" cxnId="{D4BFAEFE-A039-41A5-949F-8E356F66F71A}">
      <dgm:prSet/>
      <dgm:spPr/>
      <dgm:t>
        <a:bodyPr/>
        <a:lstStyle/>
        <a:p>
          <a:endParaRPr lang="en-US"/>
        </a:p>
      </dgm:t>
    </dgm:pt>
    <dgm:pt modelId="{95ECE2E6-9848-48DF-B85C-4B85F557526E}" type="sibTrans" cxnId="{D4BFAEFE-A039-41A5-949F-8E356F66F71A}">
      <dgm:prSet/>
      <dgm:spPr/>
      <dgm:t>
        <a:bodyPr/>
        <a:lstStyle/>
        <a:p>
          <a:endParaRPr lang="en-US" dirty="0"/>
        </a:p>
      </dgm:t>
    </dgm:pt>
    <dgm:pt modelId="{D1F0F303-8AE5-42F4-BD54-9B0F45416D9C}">
      <dgm:prSet/>
      <dgm:spPr/>
      <dgm:t>
        <a:bodyPr/>
        <a:lstStyle/>
        <a:p>
          <a:r>
            <a:rPr lang="en-US" dirty="0" smtClean="0"/>
            <a:t>.gif</a:t>
          </a:r>
          <a:r>
            <a:rPr lang="en-US" baseline="0" dirty="0" smtClean="0"/>
            <a:t> files created of plots</a:t>
          </a:r>
          <a:endParaRPr lang="en-US" dirty="0"/>
        </a:p>
      </dgm:t>
    </dgm:pt>
    <dgm:pt modelId="{585A6780-775B-4BCF-A8EB-ECBAF116ACE6}" type="parTrans" cxnId="{6EBAFF22-433E-41E1-B744-6D625A4CE41D}">
      <dgm:prSet/>
      <dgm:spPr/>
      <dgm:t>
        <a:bodyPr/>
        <a:lstStyle/>
        <a:p>
          <a:endParaRPr lang="en-US"/>
        </a:p>
      </dgm:t>
    </dgm:pt>
    <dgm:pt modelId="{56F73DB7-16A0-4B0E-8101-60008F419949}" type="sibTrans" cxnId="{6EBAFF22-433E-41E1-B744-6D625A4CE41D}">
      <dgm:prSet/>
      <dgm:spPr/>
      <dgm:t>
        <a:bodyPr/>
        <a:lstStyle/>
        <a:p>
          <a:endParaRPr lang="en-US" dirty="0"/>
        </a:p>
      </dgm:t>
    </dgm:pt>
    <dgm:pt modelId="{1B4CCC42-4033-4507-A40F-0F67C3BBBDF1}">
      <dgm:prSet phldrT="[Text]"/>
      <dgm:spPr/>
      <dgm:t>
        <a:bodyPr/>
        <a:lstStyle/>
        <a:p>
          <a:r>
            <a:rPr lang="en-US" dirty="0" smtClean="0"/>
            <a:t>Image files displayed in Java interface</a:t>
          </a:r>
          <a:endParaRPr lang="en-US" dirty="0"/>
        </a:p>
      </dgm:t>
    </dgm:pt>
    <dgm:pt modelId="{FB67C510-15B0-43A6-97E4-F7169DCD1085}" type="parTrans" cxnId="{3FE401DF-F1BF-406E-831B-F9002A9C4C25}">
      <dgm:prSet/>
      <dgm:spPr/>
      <dgm:t>
        <a:bodyPr/>
        <a:lstStyle/>
        <a:p>
          <a:endParaRPr lang="en-US"/>
        </a:p>
      </dgm:t>
    </dgm:pt>
    <dgm:pt modelId="{4CA36782-56EF-43C2-8275-BCE3E0058A4D}" type="sibTrans" cxnId="{3FE401DF-F1BF-406E-831B-F9002A9C4C25}">
      <dgm:prSet custScaleX="137665" custLinFactNeighborX="959" custLinFactNeighborY="-1779"/>
      <dgm:spPr/>
      <dgm:t>
        <a:bodyPr/>
        <a:lstStyle/>
        <a:p>
          <a:endParaRPr lang="en-US"/>
        </a:p>
      </dgm:t>
    </dgm:pt>
    <dgm:pt modelId="{98E539FA-236B-4321-A2AD-F30DEB962056}" type="pres">
      <dgm:prSet presAssocID="{E6367B5B-03A8-4641-BC87-34797C8D9F09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9B7E24-1EC1-4E09-A353-E6A8E27F1032}" type="pres">
      <dgm:prSet presAssocID="{AE98CE38-E079-46CB-8414-A9A7D46E1AA7}" presName="node" presStyleLbl="node1" presStyleIdx="0" presStyleCnt="6" custLinFactNeighborX="5527" custLinFactNeighborY="-5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9733F6-6CC8-4146-9EDA-C4F204C4B774}" type="pres">
      <dgm:prSet presAssocID="{1C9088BF-E122-4EED-8894-21017ABBF2EE}" presName="sibTrans" presStyleLbl="sibTrans2D1" presStyleIdx="0" presStyleCnt="5" custScaleX="137665" custLinFactNeighborX="959" custLinFactNeighborY="-1779"/>
      <dgm:spPr/>
      <dgm:t>
        <a:bodyPr/>
        <a:lstStyle/>
        <a:p>
          <a:endParaRPr lang="en-US"/>
        </a:p>
      </dgm:t>
    </dgm:pt>
    <dgm:pt modelId="{CE83FDD7-9B84-4E07-96DA-89A1DEB28788}" type="pres">
      <dgm:prSet presAssocID="{1C9088BF-E122-4EED-8894-21017ABBF2EE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AA8DAC81-DE6C-4D33-BDF7-11321C018F50}" type="pres">
      <dgm:prSet presAssocID="{75D21A45-DF81-431D-89A7-338B1FFBFDD0}" presName="node" presStyleLbl="node1" presStyleIdx="1" presStyleCnt="6" custLinFactNeighborX="5527" custLinFactNeighborY="-19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A2319F-6FC5-4C34-9090-833D65F95ECE}" type="pres">
      <dgm:prSet presAssocID="{7B2EB66B-4411-4495-9929-3B6C7EB76334}" presName="sibTrans" presStyleLbl="sibTrans2D1" presStyleIdx="1" presStyleCnt="5" custAng="0" custScaleX="125531" custLinFactNeighborX="7848" custLinFactNeighborY="2668"/>
      <dgm:spPr/>
      <dgm:t>
        <a:bodyPr/>
        <a:lstStyle/>
        <a:p>
          <a:endParaRPr lang="en-US"/>
        </a:p>
      </dgm:t>
    </dgm:pt>
    <dgm:pt modelId="{6948D008-9261-4515-B1C8-D2F958E3CF39}" type="pres">
      <dgm:prSet presAssocID="{7B2EB66B-4411-4495-9929-3B6C7EB76334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4671F44E-2309-4A9B-9F31-5204B9F496AF}" type="pres">
      <dgm:prSet presAssocID="{6B44341E-8E07-4B54-A8FB-5E0107115F9C}" presName="node" presStyleLbl="node1" presStyleIdx="2" presStyleCnt="6" custLinFactNeighborX="5473" custLinFactNeighborY="-68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23C813-E225-4CF4-988E-94025DB76FE8}" type="pres">
      <dgm:prSet presAssocID="{0374E2FC-B248-4FE5-8624-265768DD3241}" presName="sibTrans" presStyleLbl="sibTrans2D1" presStyleIdx="2" presStyleCnt="5" custAng="0" custScaleX="145613" custLinFactNeighborX="7848" custLinFactNeighborY="-9819"/>
      <dgm:spPr/>
      <dgm:t>
        <a:bodyPr/>
        <a:lstStyle/>
        <a:p>
          <a:endParaRPr lang="en-US"/>
        </a:p>
      </dgm:t>
    </dgm:pt>
    <dgm:pt modelId="{0723140D-8FE2-4A39-A7A1-0DE542D53EB4}" type="pres">
      <dgm:prSet presAssocID="{0374E2FC-B248-4FE5-8624-265768DD324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5270B6B-E5AF-41D0-81C0-24E68F26D0E2}" type="pres">
      <dgm:prSet presAssocID="{4BF422FE-FAB6-4545-89FD-40C8A6E219BE}" presName="node" presStyleLbl="node1" presStyleIdx="3" presStyleCnt="6" custLinFactNeighborX="6132" custLinFactNeighborY="-242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F17C24-83C8-4E6D-9B66-3F3627DC82FA}" type="pres">
      <dgm:prSet presAssocID="{95ECE2E6-9848-48DF-B85C-4B85F557526E}" presName="sibTrans" presStyleLbl="sibTrans2D1" presStyleIdx="3" presStyleCnt="5" custScaleX="136000" custLinFactNeighborX="23695" custLinFactNeighborY="-10042"/>
      <dgm:spPr/>
      <dgm:t>
        <a:bodyPr/>
        <a:lstStyle/>
        <a:p>
          <a:endParaRPr lang="en-US"/>
        </a:p>
      </dgm:t>
    </dgm:pt>
    <dgm:pt modelId="{5A665939-5555-45F0-BCCB-10273A5E9DEE}" type="pres">
      <dgm:prSet presAssocID="{95ECE2E6-9848-48DF-B85C-4B85F557526E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7176A35F-A868-4456-A818-C6187BB7B1A2}" type="pres">
      <dgm:prSet presAssocID="{D1F0F303-8AE5-42F4-BD54-9B0F45416D9C}" presName="node" presStyleLbl="node1" presStyleIdx="4" presStyleCnt="6" custLinFactNeighborX="5473" custLinFactNeighborY="-134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30367-041B-4873-AF43-F5731C6514B7}" type="pres">
      <dgm:prSet presAssocID="{56F73DB7-16A0-4B0E-8101-60008F419949}" presName="sibTrans" presStyleLbl="sibTrans2D1" presStyleIdx="4" presStyleCnt="5" custAng="0" custScaleX="145613" custLinFactNeighborX="7848" custLinFactNeighborY="-9819"/>
      <dgm:spPr/>
      <dgm:t>
        <a:bodyPr/>
        <a:lstStyle/>
        <a:p>
          <a:endParaRPr lang="en-US"/>
        </a:p>
      </dgm:t>
    </dgm:pt>
    <dgm:pt modelId="{BAAC837F-83EB-4A96-BDB1-70C0D163BDDA}" type="pres">
      <dgm:prSet presAssocID="{56F73DB7-16A0-4B0E-8101-60008F419949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A2FB73A1-01B6-4E9F-A3BA-1CFA08BE1581}" type="pres">
      <dgm:prSet presAssocID="{1B4CCC42-4033-4507-A40F-0F67C3BBBDF1}" presName="node" presStyleLbl="node1" presStyleIdx="5" presStyleCnt="6" custLinFactNeighborX="5527" custLinFactNeighborY="-5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ACDD2D-F325-423A-B8E1-A83C676B12E4}" type="presOf" srcId="{7B2EB66B-4411-4495-9929-3B6C7EB76334}" destId="{2EA2319F-6FC5-4C34-9090-833D65F95ECE}" srcOrd="0" destOrd="0" presId="urn:microsoft.com/office/officeart/2005/8/layout/process2"/>
    <dgm:cxn modelId="{2D5CA75F-F83D-4BA8-8FAC-9771B6AF127D}" type="presOf" srcId="{E6367B5B-03A8-4641-BC87-34797C8D9F09}" destId="{98E539FA-236B-4321-A2AD-F30DEB962056}" srcOrd="0" destOrd="0" presId="urn:microsoft.com/office/officeart/2005/8/layout/process2"/>
    <dgm:cxn modelId="{745A5099-C9C2-425E-8713-7F6113523684}" type="presOf" srcId="{6B44341E-8E07-4B54-A8FB-5E0107115F9C}" destId="{4671F44E-2309-4A9B-9F31-5204B9F496AF}" srcOrd="0" destOrd="0" presId="urn:microsoft.com/office/officeart/2005/8/layout/process2"/>
    <dgm:cxn modelId="{E1509976-3A9F-4AD5-9438-57944B8B4297}" type="presOf" srcId="{56F73DB7-16A0-4B0E-8101-60008F419949}" destId="{BAAC837F-83EB-4A96-BDB1-70C0D163BDDA}" srcOrd="1" destOrd="0" presId="urn:microsoft.com/office/officeart/2005/8/layout/process2"/>
    <dgm:cxn modelId="{D4BFAEFE-A039-41A5-949F-8E356F66F71A}" srcId="{E6367B5B-03A8-4641-BC87-34797C8D9F09}" destId="{4BF422FE-FAB6-4545-89FD-40C8A6E219BE}" srcOrd="3" destOrd="0" parTransId="{DE7E5CC9-7FCD-4A53-B5B3-237F4BAA548B}" sibTransId="{95ECE2E6-9848-48DF-B85C-4B85F557526E}"/>
    <dgm:cxn modelId="{C08F368A-A133-4075-8164-C880E1F9BF9D}" type="presOf" srcId="{56F73DB7-16A0-4B0E-8101-60008F419949}" destId="{84E30367-041B-4873-AF43-F5731C6514B7}" srcOrd="0" destOrd="0" presId="urn:microsoft.com/office/officeart/2005/8/layout/process2"/>
    <dgm:cxn modelId="{DC603136-C4C7-4184-AB40-BED96031C7C8}" type="presOf" srcId="{0374E2FC-B248-4FE5-8624-265768DD3241}" destId="{C823C813-E225-4CF4-988E-94025DB76FE8}" srcOrd="0" destOrd="0" presId="urn:microsoft.com/office/officeart/2005/8/layout/process2"/>
    <dgm:cxn modelId="{40843283-D0E3-4E76-AD3F-41A6159F556E}" type="presOf" srcId="{1B4CCC42-4033-4507-A40F-0F67C3BBBDF1}" destId="{A2FB73A1-01B6-4E9F-A3BA-1CFA08BE1581}" srcOrd="0" destOrd="0" presId="urn:microsoft.com/office/officeart/2005/8/layout/process2"/>
    <dgm:cxn modelId="{3FE401DF-F1BF-406E-831B-F9002A9C4C25}" srcId="{E6367B5B-03A8-4641-BC87-34797C8D9F09}" destId="{1B4CCC42-4033-4507-A40F-0F67C3BBBDF1}" srcOrd="5" destOrd="0" parTransId="{FB67C510-15B0-43A6-97E4-F7169DCD1085}" sibTransId="{4CA36782-56EF-43C2-8275-BCE3E0058A4D}"/>
    <dgm:cxn modelId="{A3224953-05A8-4DA3-99F6-C527BA148597}" type="presOf" srcId="{75D21A45-DF81-431D-89A7-338B1FFBFDD0}" destId="{AA8DAC81-DE6C-4D33-BDF7-11321C018F50}" srcOrd="0" destOrd="0" presId="urn:microsoft.com/office/officeart/2005/8/layout/process2"/>
    <dgm:cxn modelId="{1C6CA8FD-3311-4920-B2C4-F93894530894}" type="presOf" srcId="{AE98CE38-E079-46CB-8414-A9A7D46E1AA7}" destId="{609B7E24-1EC1-4E09-A353-E6A8E27F1032}" srcOrd="0" destOrd="0" presId="urn:microsoft.com/office/officeart/2005/8/layout/process2"/>
    <dgm:cxn modelId="{CB9BE912-D77D-4E63-BBED-1E3BAB9B3D59}" type="presOf" srcId="{0374E2FC-B248-4FE5-8624-265768DD3241}" destId="{0723140D-8FE2-4A39-A7A1-0DE542D53EB4}" srcOrd="1" destOrd="0" presId="urn:microsoft.com/office/officeart/2005/8/layout/process2"/>
    <dgm:cxn modelId="{86A13662-4CF3-4704-9F1A-831659402894}" srcId="{E6367B5B-03A8-4641-BC87-34797C8D9F09}" destId="{AE98CE38-E079-46CB-8414-A9A7D46E1AA7}" srcOrd="0" destOrd="0" parTransId="{CE78F346-03E2-4CAE-912A-F72CAAEDB2C2}" sibTransId="{1C9088BF-E122-4EED-8894-21017ABBF2EE}"/>
    <dgm:cxn modelId="{6EBAFF22-433E-41E1-B744-6D625A4CE41D}" srcId="{E6367B5B-03A8-4641-BC87-34797C8D9F09}" destId="{D1F0F303-8AE5-42F4-BD54-9B0F45416D9C}" srcOrd="4" destOrd="0" parTransId="{585A6780-775B-4BCF-A8EB-ECBAF116ACE6}" sibTransId="{56F73DB7-16A0-4B0E-8101-60008F419949}"/>
    <dgm:cxn modelId="{7D6A1BC2-5CF2-46CE-8A3E-8F6F34029DAF}" type="presOf" srcId="{4BF422FE-FAB6-4545-89FD-40C8A6E219BE}" destId="{25270B6B-E5AF-41D0-81C0-24E68F26D0E2}" srcOrd="0" destOrd="0" presId="urn:microsoft.com/office/officeart/2005/8/layout/process2"/>
    <dgm:cxn modelId="{DD7B13C3-E92E-4DA8-8401-C81DB4F18D44}" srcId="{E6367B5B-03A8-4641-BC87-34797C8D9F09}" destId="{6B44341E-8E07-4B54-A8FB-5E0107115F9C}" srcOrd="2" destOrd="0" parTransId="{349B7500-523E-4359-9FE0-212C63AB0697}" sibTransId="{0374E2FC-B248-4FE5-8624-265768DD3241}"/>
    <dgm:cxn modelId="{DFF53105-D5D0-4C82-8FF7-0E7D0D94F3D3}" type="presOf" srcId="{7B2EB66B-4411-4495-9929-3B6C7EB76334}" destId="{6948D008-9261-4515-B1C8-D2F958E3CF39}" srcOrd="1" destOrd="0" presId="urn:microsoft.com/office/officeart/2005/8/layout/process2"/>
    <dgm:cxn modelId="{AD8A1DB9-47B2-40A3-A0A6-EA46BFE600B7}" srcId="{E6367B5B-03A8-4641-BC87-34797C8D9F09}" destId="{75D21A45-DF81-431D-89A7-338B1FFBFDD0}" srcOrd="1" destOrd="0" parTransId="{9E843211-4748-4401-B3AB-2237C88C6488}" sibTransId="{7B2EB66B-4411-4495-9929-3B6C7EB76334}"/>
    <dgm:cxn modelId="{B7E2863A-2754-4F07-9E0E-F5851352FEC8}" type="presOf" srcId="{95ECE2E6-9848-48DF-B85C-4B85F557526E}" destId="{31F17C24-83C8-4E6D-9B66-3F3627DC82FA}" srcOrd="0" destOrd="0" presId="urn:microsoft.com/office/officeart/2005/8/layout/process2"/>
    <dgm:cxn modelId="{439A0386-9EB3-4EC3-A27E-E94D8C15835E}" type="presOf" srcId="{1C9088BF-E122-4EED-8894-21017ABBF2EE}" destId="{CE83FDD7-9B84-4E07-96DA-89A1DEB28788}" srcOrd="1" destOrd="0" presId="urn:microsoft.com/office/officeart/2005/8/layout/process2"/>
    <dgm:cxn modelId="{8F91B412-3009-40A5-BC8D-17EEE81E0431}" type="presOf" srcId="{95ECE2E6-9848-48DF-B85C-4B85F557526E}" destId="{5A665939-5555-45F0-BCCB-10273A5E9DEE}" srcOrd="1" destOrd="0" presId="urn:microsoft.com/office/officeart/2005/8/layout/process2"/>
    <dgm:cxn modelId="{6505AD53-EC0B-45D4-927A-461100AAFFF5}" type="presOf" srcId="{1C9088BF-E122-4EED-8894-21017ABBF2EE}" destId="{9E9733F6-6CC8-4146-9EDA-C4F204C4B774}" srcOrd="0" destOrd="0" presId="urn:microsoft.com/office/officeart/2005/8/layout/process2"/>
    <dgm:cxn modelId="{F181F25D-654D-414A-8FD3-67A44CC6FB9E}" type="presOf" srcId="{D1F0F303-8AE5-42F4-BD54-9B0F45416D9C}" destId="{7176A35F-A868-4456-A818-C6187BB7B1A2}" srcOrd="0" destOrd="0" presId="urn:microsoft.com/office/officeart/2005/8/layout/process2"/>
    <dgm:cxn modelId="{98F703B3-6CAA-4BA3-AE3F-DE46EF9BF81D}" type="presParOf" srcId="{98E539FA-236B-4321-A2AD-F30DEB962056}" destId="{609B7E24-1EC1-4E09-A353-E6A8E27F1032}" srcOrd="0" destOrd="0" presId="urn:microsoft.com/office/officeart/2005/8/layout/process2"/>
    <dgm:cxn modelId="{6BA35500-FE49-45CC-9309-11410DBE09ED}" type="presParOf" srcId="{98E539FA-236B-4321-A2AD-F30DEB962056}" destId="{9E9733F6-6CC8-4146-9EDA-C4F204C4B774}" srcOrd="1" destOrd="0" presId="urn:microsoft.com/office/officeart/2005/8/layout/process2"/>
    <dgm:cxn modelId="{C3988E5F-2456-4B32-9749-D58B1D39FBF3}" type="presParOf" srcId="{9E9733F6-6CC8-4146-9EDA-C4F204C4B774}" destId="{CE83FDD7-9B84-4E07-96DA-89A1DEB28788}" srcOrd="0" destOrd="0" presId="urn:microsoft.com/office/officeart/2005/8/layout/process2"/>
    <dgm:cxn modelId="{66DCF313-09E3-424D-9656-FE1271921E55}" type="presParOf" srcId="{98E539FA-236B-4321-A2AD-F30DEB962056}" destId="{AA8DAC81-DE6C-4D33-BDF7-11321C018F50}" srcOrd="2" destOrd="0" presId="urn:microsoft.com/office/officeart/2005/8/layout/process2"/>
    <dgm:cxn modelId="{7F125DED-438A-4DA7-8A8E-1907A265AD01}" type="presParOf" srcId="{98E539FA-236B-4321-A2AD-F30DEB962056}" destId="{2EA2319F-6FC5-4C34-9090-833D65F95ECE}" srcOrd="3" destOrd="0" presId="urn:microsoft.com/office/officeart/2005/8/layout/process2"/>
    <dgm:cxn modelId="{E2020627-9CCA-454A-BD4A-76B53B4CB605}" type="presParOf" srcId="{2EA2319F-6FC5-4C34-9090-833D65F95ECE}" destId="{6948D008-9261-4515-B1C8-D2F958E3CF39}" srcOrd="0" destOrd="0" presId="urn:microsoft.com/office/officeart/2005/8/layout/process2"/>
    <dgm:cxn modelId="{1D1B5CDE-2A26-4735-83AD-1E0349A0172D}" type="presParOf" srcId="{98E539FA-236B-4321-A2AD-F30DEB962056}" destId="{4671F44E-2309-4A9B-9F31-5204B9F496AF}" srcOrd="4" destOrd="0" presId="urn:microsoft.com/office/officeart/2005/8/layout/process2"/>
    <dgm:cxn modelId="{8C4458FB-EC6F-4D91-AEC3-053549CD6F4D}" type="presParOf" srcId="{98E539FA-236B-4321-A2AD-F30DEB962056}" destId="{C823C813-E225-4CF4-988E-94025DB76FE8}" srcOrd="5" destOrd="0" presId="urn:microsoft.com/office/officeart/2005/8/layout/process2"/>
    <dgm:cxn modelId="{C71A7E38-917F-441C-9D8F-A0248B3B77BC}" type="presParOf" srcId="{C823C813-E225-4CF4-988E-94025DB76FE8}" destId="{0723140D-8FE2-4A39-A7A1-0DE542D53EB4}" srcOrd="0" destOrd="0" presId="urn:microsoft.com/office/officeart/2005/8/layout/process2"/>
    <dgm:cxn modelId="{69EA96AE-F3C8-43E8-B41D-AF745CFA2A74}" type="presParOf" srcId="{98E539FA-236B-4321-A2AD-F30DEB962056}" destId="{25270B6B-E5AF-41D0-81C0-24E68F26D0E2}" srcOrd="6" destOrd="0" presId="urn:microsoft.com/office/officeart/2005/8/layout/process2"/>
    <dgm:cxn modelId="{4A1FFC26-91BF-4BE1-A5A2-81CBBA2C1988}" type="presParOf" srcId="{98E539FA-236B-4321-A2AD-F30DEB962056}" destId="{31F17C24-83C8-4E6D-9B66-3F3627DC82FA}" srcOrd="7" destOrd="0" presId="urn:microsoft.com/office/officeart/2005/8/layout/process2"/>
    <dgm:cxn modelId="{F9EBBEE9-2369-4B3C-8EEA-4A5B3997120E}" type="presParOf" srcId="{31F17C24-83C8-4E6D-9B66-3F3627DC82FA}" destId="{5A665939-5555-45F0-BCCB-10273A5E9DEE}" srcOrd="0" destOrd="0" presId="urn:microsoft.com/office/officeart/2005/8/layout/process2"/>
    <dgm:cxn modelId="{781B1F3F-5597-41BC-A582-2B901E288D28}" type="presParOf" srcId="{98E539FA-236B-4321-A2AD-F30DEB962056}" destId="{7176A35F-A868-4456-A818-C6187BB7B1A2}" srcOrd="8" destOrd="0" presId="urn:microsoft.com/office/officeart/2005/8/layout/process2"/>
    <dgm:cxn modelId="{F8F4E7B4-B8B3-407C-87B4-4937B210CB93}" type="presParOf" srcId="{98E539FA-236B-4321-A2AD-F30DEB962056}" destId="{84E30367-041B-4873-AF43-F5731C6514B7}" srcOrd="9" destOrd="0" presId="urn:microsoft.com/office/officeart/2005/8/layout/process2"/>
    <dgm:cxn modelId="{81B763A8-805B-4EA0-8A11-A2D65241A446}" type="presParOf" srcId="{84E30367-041B-4873-AF43-F5731C6514B7}" destId="{BAAC837F-83EB-4A96-BDB1-70C0D163BDDA}" srcOrd="0" destOrd="0" presId="urn:microsoft.com/office/officeart/2005/8/layout/process2"/>
    <dgm:cxn modelId="{45C9179A-A878-4D0D-9B00-08599F2C8A66}" type="presParOf" srcId="{98E539FA-236B-4321-A2AD-F30DEB962056}" destId="{A2FB73A1-01B6-4E9F-A3BA-1CFA08BE158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9B7E24-1EC1-4E09-A353-E6A8E27F1032}">
      <dsp:nvSpPr>
        <dsp:cNvPr id="0" name=""/>
        <dsp:cNvSpPr/>
      </dsp:nvSpPr>
      <dsp:spPr>
        <a:xfrm>
          <a:off x="1815150" y="404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Data files rewritten with consistent missing value</a:t>
          </a:r>
          <a:endParaRPr lang="en-US" sz="1600" kern="1200" dirty="0"/>
        </a:p>
      </dsp:txBody>
      <dsp:txXfrm>
        <a:off x="1815150" y="404"/>
        <a:ext cx="2258111" cy="591201"/>
      </dsp:txXfrm>
    </dsp:sp>
    <dsp:sp modelId="{9E9733F6-6CC8-4146-9EDA-C4F204C4B774}">
      <dsp:nvSpPr>
        <dsp:cNvPr id="0" name=""/>
        <dsp:cNvSpPr/>
      </dsp:nvSpPr>
      <dsp:spPr>
        <a:xfrm rot="5400000">
          <a:off x="2795841" y="599579"/>
          <a:ext cx="300921" cy="266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 rot="5400000">
        <a:off x="2795841" y="599579"/>
        <a:ext cx="300921" cy="266040"/>
      </dsp:txXfrm>
    </dsp:sp>
    <dsp:sp modelId="{AA8DAC81-DE6C-4D33-BDF7-11321C018F50}">
      <dsp:nvSpPr>
        <dsp:cNvPr id="0" name=""/>
        <dsp:cNvSpPr/>
      </dsp:nvSpPr>
      <dsp:spPr>
        <a:xfrm>
          <a:off x="1815150" y="883059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Gnuplot template file read</a:t>
          </a:r>
          <a:endParaRPr lang="en-US" sz="1600" kern="1200" dirty="0"/>
        </a:p>
      </dsp:txBody>
      <dsp:txXfrm>
        <a:off x="1815150" y="883059"/>
        <a:ext cx="2258111" cy="591201"/>
      </dsp:txXfrm>
    </dsp:sp>
    <dsp:sp modelId="{2EA2319F-6FC5-4C34-9090-833D65F95ECE}">
      <dsp:nvSpPr>
        <dsp:cNvPr id="0" name=""/>
        <dsp:cNvSpPr/>
      </dsp:nvSpPr>
      <dsp:spPr>
        <a:xfrm rot="5404805">
          <a:off x="2827766" y="1488947"/>
          <a:ext cx="264763" cy="266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 rot="5404805">
        <a:off x="2827766" y="1488947"/>
        <a:ext cx="264763" cy="266040"/>
      </dsp:txXfrm>
    </dsp:sp>
    <dsp:sp modelId="{4671F44E-2309-4A9B-9F31-5204B9F496AF}">
      <dsp:nvSpPr>
        <dsp:cNvPr id="0" name=""/>
        <dsp:cNvSpPr/>
      </dsp:nvSpPr>
      <dsp:spPr>
        <a:xfrm>
          <a:off x="1813930" y="1755480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Gnuplot scripts generated for new data files</a:t>
          </a:r>
          <a:endParaRPr lang="en-US" sz="1600" kern="1200" dirty="0"/>
        </a:p>
      </dsp:txBody>
      <dsp:txXfrm>
        <a:off x="1813930" y="1755480"/>
        <a:ext cx="2258111" cy="591201"/>
      </dsp:txXfrm>
    </dsp:sp>
    <dsp:sp modelId="{C823C813-E225-4CF4-988E-94025DB76FE8}">
      <dsp:nvSpPr>
        <dsp:cNvPr id="0" name=""/>
        <dsp:cNvSpPr/>
      </dsp:nvSpPr>
      <dsp:spPr>
        <a:xfrm rot="5338764">
          <a:off x="2831476" y="2309597"/>
          <a:ext cx="266643" cy="266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 rot="5338764">
        <a:off x="2831476" y="2309597"/>
        <a:ext cx="266643" cy="266040"/>
      </dsp:txXfrm>
    </dsp:sp>
    <dsp:sp modelId="{25270B6B-E5AF-41D0-81C0-24E68F26D0E2}">
      <dsp:nvSpPr>
        <dsp:cNvPr id="0" name=""/>
        <dsp:cNvSpPr/>
      </dsp:nvSpPr>
      <dsp:spPr>
        <a:xfrm>
          <a:off x="1828811" y="2590799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New scripts run</a:t>
          </a:r>
          <a:endParaRPr lang="en-US" sz="1600" kern="1200" dirty="0"/>
        </a:p>
      </dsp:txBody>
      <dsp:txXfrm>
        <a:off x="1828811" y="2590799"/>
        <a:ext cx="2258111" cy="591201"/>
      </dsp:txXfrm>
    </dsp:sp>
    <dsp:sp modelId="{31F17C24-83C8-4E6D-9B66-3F3627DC82FA}">
      <dsp:nvSpPr>
        <dsp:cNvPr id="0" name=""/>
        <dsp:cNvSpPr/>
      </dsp:nvSpPr>
      <dsp:spPr>
        <a:xfrm rot="5455681">
          <a:off x="2841597" y="3186001"/>
          <a:ext cx="334065" cy="266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 rot="5455681">
        <a:off x="2841597" y="3186001"/>
        <a:ext cx="334065" cy="266040"/>
      </dsp:txXfrm>
    </dsp:sp>
    <dsp:sp modelId="{7176A35F-A868-4456-A818-C6187BB7B1A2}">
      <dsp:nvSpPr>
        <dsp:cNvPr id="0" name=""/>
        <dsp:cNvSpPr/>
      </dsp:nvSpPr>
      <dsp:spPr>
        <a:xfrm>
          <a:off x="1813930" y="3509473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.gif</a:t>
          </a:r>
          <a:r>
            <a:rPr lang="en-US" sz="1600" kern="1200" baseline="0" dirty="0" smtClean="0"/>
            <a:t> files created of plots</a:t>
          </a:r>
          <a:endParaRPr lang="en-US" sz="1600" kern="1200" dirty="0"/>
        </a:p>
      </dsp:txBody>
      <dsp:txXfrm>
        <a:off x="1813930" y="3509473"/>
        <a:ext cx="2258111" cy="591201"/>
      </dsp:txXfrm>
    </dsp:sp>
    <dsp:sp modelId="{84E30367-041B-4873-AF43-F5731C6514B7}">
      <dsp:nvSpPr>
        <dsp:cNvPr id="0" name=""/>
        <dsp:cNvSpPr/>
      </dsp:nvSpPr>
      <dsp:spPr>
        <a:xfrm rot="5395468">
          <a:off x="2781002" y="4108401"/>
          <a:ext cx="364475" cy="266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 rot="5395468">
        <a:off x="2781002" y="4108401"/>
        <a:ext cx="364475" cy="266040"/>
      </dsp:txXfrm>
    </dsp:sp>
    <dsp:sp modelId="{A2FB73A1-01B6-4E9F-A3BA-1CFA08BE1581}">
      <dsp:nvSpPr>
        <dsp:cNvPr id="0" name=""/>
        <dsp:cNvSpPr/>
      </dsp:nvSpPr>
      <dsp:spPr>
        <a:xfrm>
          <a:off x="1815150" y="4434413"/>
          <a:ext cx="2258111" cy="591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Image files displayed in Java interface</a:t>
          </a:r>
          <a:endParaRPr lang="en-US" sz="1600" kern="1200" dirty="0"/>
        </a:p>
      </dsp:txBody>
      <dsp:txXfrm>
        <a:off x="1815150" y="4434413"/>
        <a:ext cx="2258111" cy="591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1437D-3857-4048-B6E0-ABF12FA6D16D}" type="datetimeFigureOut">
              <a:rPr lang="en-US" smtClean="0"/>
              <a:pPr/>
              <a:t>8/4/2011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FC6F4-05BA-40D3-BC01-59F74BB30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88A31FAF-B2F4-4856-B5D3-15AA06E5B5DF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A6217C5C-115F-424E-8052-AE7DAC380B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217C5C-115F-424E-8052-AE7DAC380BA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8821203-52F6-415D-B319-4F8B066A4F13}" type="datetimeFigureOut">
              <a:rPr lang="en-US" smtClean="0"/>
              <a:pPr/>
              <a:t>8/4/2011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F4D97B5-A65C-48DD-AF85-FDD320416EE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Summer 2011 Undergraduate Engineering Internship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Monica Jacobs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 Computer Science 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Some C</a:t>
            </a:r>
          </a:p>
          <a:p>
            <a:r>
              <a:rPr lang="en-US" dirty="0" smtClean="0"/>
              <a:t>Html</a:t>
            </a:r>
          </a:p>
          <a:p>
            <a:r>
              <a:rPr lang="en-US" dirty="0" smtClean="0"/>
              <a:t>php</a:t>
            </a:r>
          </a:p>
          <a:p>
            <a:r>
              <a:rPr lang="en-US" dirty="0" smtClean="0"/>
              <a:t>mySQL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upal-Logo.png"/>
          <p:cNvPicPr>
            <a:picLocks noChangeAspect="1"/>
          </p:cNvPicPr>
          <p:nvPr/>
        </p:nvPicPr>
        <p:blipFill>
          <a:blip r:embed="rId2" cstate="print">
            <a:lum bright="51000" contrast="-56000"/>
          </a:blip>
          <a:stretch>
            <a:fillRect/>
          </a:stretch>
        </p:blipFill>
        <p:spPr>
          <a:xfrm>
            <a:off x="685800" y="1828800"/>
            <a:ext cx="2895601" cy="30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066800"/>
          </a:xfrm>
        </p:spPr>
        <p:txBody>
          <a:bodyPr/>
          <a:lstStyle/>
          <a:p>
            <a:r>
              <a:rPr lang="en-US" dirty="0" smtClean="0"/>
              <a:t>New Drupal 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57400"/>
            <a:ext cx="8229600" cy="4525963"/>
          </a:xfrm>
        </p:spPr>
        <p:txBody>
          <a:bodyPr/>
          <a:lstStyle/>
          <a:p>
            <a:r>
              <a:rPr lang="en-US" dirty="0" smtClean="0"/>
              <a:t>Originally hired for project that was delayed</a:t>
            </a:r>
          </a:p>
          <a:p>
            <a:r>
              <a:rPr lang="en-US" dirty="0" smtClean="0"/>
              <a:t>Helped design organizational structure for field projects</a:t>
            </a:r>
          </a:p>
          <a:p>
            <a:r>
              <a:rPr lang="en-US" dirty="0" smtClean="0"/>
              <a:t>Not particularly </a:t>
            </a:r>
          </a:p>
          <a:p>
            <a:pPr>
              <a:buNone/>
            </a:pPr>
            <a:r>
              <a:rPr lang="en-US" dirty="0" smtClean="0"/>
              <a:t>	technical</a:t>
            </a:r>
          </a:p>
          <a:p>
            <a:pPr lvl="1"/>
            <a:r>
              <a:rPr lang="en-US" dirty="0" smtClean="0"/>
              <a:t>Views</a:t>
            </a:r>
          </a:p>
          <a:p>
            <a:pPr lvl="1"/>
            <a:r>
              <a:rPr lang="en-US" dirty="0" smtClean="0"/>
              <a:t>Content Type</a:t>
            </a:r>
          </a:p>
        </p:txBody>
      </p:sp>
      <p:pic>
        <p:nvPicPr>
          <p:cNvPr id="6" name="Picture 5" descr="drupal field projects.png"/>
          <p:cNvPicPr>
            <a:picLocks noChangeAspect="1"/>
          </p:cNvPicPr>
          <p:nvPr/>
        </p:nvPicPr>
        <p:blipFill>
          <a:blip r:embed="rId3" cstate="print"/>
          <a:srcRect l="18333" r="25833" b="32334"/>
          <a:stretch>
            <a:fillRect/>
          </a:stretch>
        </p:blipFill>
        <p:spPr>
          <a:xfrm>
            <a:off x="4038600" y="3352800"/>
            <a:ext cx="4771251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673334"/>
            <a:ext cx="38862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http://www.cloudave.com/wordpress/wp-content/uploads/2011/01/Drupal-Logo.png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XQC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40386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Sounding quality control tool</a:t>
            </a:r>
          </a:p>
          <a:p>
            <a:r>
              <a:rPr lang="en-US" dirty="0" smtClean="0"/>
              <a:t>Written in C</a:t>
            </a:r>
          </a:p>
          <a:p>
            <a:r>
              <a:rPr lang="en-US" dirty="0" smtClean="0"/>
              <a:t>Solaris only</a:t>
            </a:r>
          </a:p>
          <a:p>
            <a:pPr lvl="1"/>
            <a:r>
              <a:rPr lang="en-US" dirty="0" smtClean="0"/>
              <a:t>xview</a:t>
            </a:r>
          </a:p>
          <a:p>
            <a:r>
              <a:rPr lang="en-US" dirty="0" smtClean="0"/>
              <a:t>Good/Bad/Questionable data markers</a:t>
            </a:r>
          </a:p>
          <a:p>
            <a:r>
              <a:rPr lang="en-US" dirty="0" smtClean="0"/>
              <a:t>Parameters</a:t>
            </a:r>
          </a:p>
          <a:p>
            <a:r>
              <a:rPr lang="en-US" dirty="0" smtClean="0"/>
              <a:t>Zoom</a:t>
            </a:r>
          </a:p>
          <a:p>
            <a:r>
              <a:rPr lang="en-US" dirty="0" smtClean="0"/>
              <a:t>XQC2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pic>
        <p:nvPicPr>
          <p:cNvPr id="4" name="Picture 3" descr="xq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43400" y="1981200"/>
            <a:ext cx="4590196" cy="4056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XQC Recommendation	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Future Requirements:</a:t>
            </a:r>
          </a:p>
          <a:p>
            <a:pPr lvl="1"/>
            <a:r>
              <a:rPr lang="en-US" dirty="0" smtClean="0"/>
              <a:t>Cross-platform compatible</a:t>
            </a:r>
          </a:p>
          <a:p>
            <a:pPr lvl="1"/>
            <a:r>
              <a:rPr lang="en-US" dirty="0" smtClean="0"/>
              <a:t>Drag-and-Drop Zoom</a:t>
            </a:r>
          </a:p>
          <a:p>
            <a:pPr lvl="1"/>
            <a:r>
              <a:rPr lang="en-US" dirty="0" smtClean="0"/>
              <a:t>Save skew-T</a:t>
            </a:r>
          </a:p>
          <a:p>
            <a:pPr lvl="1"/>
            <a:r>
              <a:rPr lang="en-US" dirty="0" smtClean="0"/>
              <a:t>View a plot of ascent rate</a:t>
            </a:r>
          </a:p>
          <a:p>
            <a:pPr lvl="1"/>
            <a:r>
              <a:rPr lang="en-US" dirty="0" smtClean="0"/>
              <a:t>Overlay multiple soundings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Report and Mock-up</a:t>
            </a:r>
          </a:p>
          <a:p>
            <a:pPr lvl="1"/>
            <a:endParaRPr lang="en-US" dirty="0"/>
          </a:p>
        </p:txBody>
      </p:sp>
      <p:pic>
        <p:nvPicPr>
          <p:cNvPr id="10" name="Content Placeholder 9" descr="xqc mockup.pn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267200" y="1981200"/>
            <a:ext cx="4581966" cy="3817668"/>
          </a:xfr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Sounding Comparison Tool (SCT)- </a:t>
            </a:r>
            <a:br>
              <a:rPr lang="en-US" dirty="0" smtClean="0"/>
            </a:br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Compare Data from 5 Soundings on Plots</a:t>
            </a:r>
          </a:p>
          <a:p>
            <a:r>
              <a:rPr lang="en-US" dirty="0" smtClean="0"/>
              <a:t>X-Axis Variables: Temperature, Relative Humidity, Wind Speed, Wind Direction, Ascension Rate, Longitude, Latitude, U Wind and V Wind</a:t>
            </a:r>
          </a:p>
          <a:p>
            <a:r>
              <a:rPr lang="en-US" dirty="0" smtClean="0"/>
              <a:t>Y-Axis Variables: Pressure, Time and Altitude</a:t>
            </a:r>
          </a:p>
          <a:p>
            <a:r>
              <a:rPr lang="en-US" dirty="0" smtClean="0"/>
              <a:t>Zoom feature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SCT Mandatory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Windows-style file selection</a:t>
            </a:r>
          </a:p>
          <a:p>
            <a:r>
              <a:rPr lang="en-US" dirty="0" smtClean="0"/>
              <a:t>Quit Button</a:t>
            </a:r>
          </a:p>
          <a:p>
            <a:r>
              <a:rPr lang="en-US" dirty="0" smtClean="0"/>
              <a:t>Select new files and create new plots w/o exiting</a:t>
            </a:r>
          </a:p>
          <a:p>
            <a:r>
              <a:rPr lang="en-US" dirty="0" smtClean="0"/>
              <a:t>Legend for each plot to differentiate between soundings</a:t>
            </a:r>
          </a:p>
          <a:p>
            <a:r>
              <a:rPr lang="en-US" dirty="0" smtClean="0"/>
              <a:t>Proper scaling</a:t>
            </a:r>
          </a:p>
          <a:p>
            <a:r>
              <a:rPr lang="en-US" dirty="0" smtClean="0"/>
              <a:t>Pressure plots with y-axis reversed</a:t>
            </a:r>
          </a:p>
          <a:p>
            <a:r>
              <a:rPr lang="en-US" dirty="0" smtClean="0"/>
              <a:t>Error handling and graceful death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SCT Desired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Option to reverse Y-axis for dropsondes when plotting Time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Drag and Drop Zoom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View Skew-T Log P graphs too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and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Java</a:t>
            </a:r>
          </a:p>
          <a:p>
            <a:r>
              <a:rPr lang="en-US" dirty="0" smtClean="0"/>
              <a:t>Gnuplot</a:t>
            </a:r>
          </a:p>
          <a:p>
            <a:r>
              <a:rPr lang="en-US" dirty="0" smtClean="0"/>
              <a:t>Javaplot</a:t>
            </a:r>
          </a:p>
          <a:p>
            <a:r>
              <a:rPr lang="en-US" dirty="0" smtClean="0"/>
              <a:t>Gifs and Scripts</a:t>
            </a:r>
          </a:p>
          <a:p>
            <a:pPr lvl="1"/>
            <a:r>
              <a:rPr lang="en-US" dirty="0" smtClean="0"/>
              <a:t>Template File</a:t>
            </a:r>
          </a:p>
          <a:p>
            <a:r>
              <a:rPr lang="en-US" dirty="0" smtClean="0"/>
              <a:t>Bash Shell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NCAR EOL Sounding Composite Format</a:t>
            </a:r>
          </a:p>
          <a:p>
            <a:r>
              <a:rPr lang="en-US" dirty="0" smtClean="0"/>
              <a:t>Filter for .cls and .qc files</a:t>
            </a:r>
            <a:endParaRPr lang="en-US" dirty="0"/>
          </a:p>
        </p:txBody>
      </p:sp>
      <p:pic>
        <p:nvPicPr>
          <p:cNvPr id="5" name="Picture 4" descr="jfilechooser-circl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895600"/>
            <a:ext cx="4983589" cy="34685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Generating and Displaying the Plots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352800" y="1524000"/>
          <a:ext cx="56388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quarter" idx="2"/>
          </p:nvPr>
        </p:nvSpPr>
        <p:spPr>
          <a:xfrm>
            <a:off x="381000" y="1676400"/>
            <a:ext cx="38862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When “Plot” button selected, indicates all files opened</a:t>
            </a:r>
          </a:p>
          <a:p>
            <a:r>
              <a:rPr lang="en-US" dirty="0" smtClean="0"/>
              <a:t>Different variables have different missing data markers</a:t>
            </a:r>
          </a:p>
          <a:p>
            <a:pPr lvl="1"/>
            <a:r>
              <a:rPr lang="en-US" dirty="0" smtClean="0"/>
              <a:t>Gnuplot is inflexible</a:t>
            </a:r>
          </a:p>
          <a:p>
            <a:pPr lvl="1"/>
            <a:r>
              <a:rPr lang="en-US" dirty="0" smtClean="0"/>
              <a:t>.sct files</a:t>
            </a:r>
          </a:p>
          <a:p>
            <a:r>
              <a:rPr lang="en-US" dirty="0" smtClean="0"/>
              <a:t>Not particularly efficient, but no additional installations on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Files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.gif, .sct and gnuplot scripts generated</a:t>
            </a:r>
          </a:p>
          <a:p>
            <a:r>
              <a:rPr lang="en-US" dirty="0" smtClean="0"/>
              <a:t>Bash script called with “Clear” or “Quit” buttons</a:t>
            </a:r>
          </a:p>
          <a:p>
            <a:pPr lvl="1"/>
            <a:r>
              <a:rPr lang="en-US" dirty="0" smtClean="0"/>
              <a:t>SCT doesn’t have to be run through Bash</a:t>
            </a:r>
          </a:p>
          <a:p>
            <a:r>
              <a:rPr lang="en-US" dirty="0" smtClean="0"/>
              <a:t>Specific .gifs and scripts removed</a:t>
            </a:r>
          </a:p>
          <a:p>
            <a:r>
              <a:rPr lang="en-US" dirty="0" smtClean="0"/>
              <a:t>All .sct files deleted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All errors handled</a:t>
            </a:r>
          </a:p>
          <a:p>
            <a:r>
              <a:rPr lang="en-US" dirty="0" smtClean="0"/>
              <a:t>User-relevant errors get a pop-up message</a:t>
            </a:r>
          </a:p>
          <a:p>
            <a:r>
              <a:rPr lang="en-US" dirty="0" smtClean="0"/>
              <a:t>Most common error is that gnuplot does not generate plots</a:t>
            </a:r>
          </a:p>
          <a:p>
            <a:pPr lvl="1"/>
            <a:r>
              <a:rPr lang="en-US" dirty="0" smtClean="0"/>
              <a:t>This occurs with an incomplete or empty file</a:t>
            </a:r>
            <a:endParaRPr lang="en-US" dirty="0"/>
          </a:p>
        </p:txBody>
      </p:sp>
      <p:pic>
        <p:nvPicPr>
          <p:cNvPr id="4" name="Picture 3" descr="error_message.png"/>
          <p:cNvPicPr>
            <a:picLocks noChangeAspect="1"/>
          </p:cNvPicPr>
          <p:nvPr/>
        </p:nvPicPr>
        <p:blipFill>
          <a:blip r:embed="rId2" cstate="print"/>
          <a:srcRect l="39542" t="44519" r="38708" b="43149"/>
          <a:stretch>
            <a:fillRect/>
          </a:stretch>
        </p:blipFill>
        <p:spPr>
          <a:xfrm>
            <a:off x="2362200" y="4343400"/>
            <a:ext cx="44196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153400" cy="990600"/>
          </a:xfrm>
        </p:spPr>
        <p:txBody>
          <a:bodyPr/>
          <a:lstStyle/>
          <a:p>
            <a:r>
              <a:rPr lang="en-US" dirty="0" smtClean="0"/>
              <a:t>Startup and File Selection</a:t>
            </a:r>
            <a:endParaRPr lang="en-US" dirty="0"/>
          </a:p>
        </p:txBody>
      </p:sp>
      <p:pic>
        <p:nvPicPr>
          <p:cNvPr id="4" name="Content Placeholder 3" descr="start_view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5342825" cy="3233523"/>
          </a:xfrm>
        </p:spPr>
      </p:pic>
      <p:pic>
        <p:nvPicPr>
          <p:cNvPr id="5" name="Picture 4" descr="start_view_cro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2133600"/>
            <a:ext cx="3276600" cy="991282"/>
          </a:xfrm>
          <a:prstGeom prst="rect">
            <a:avLst/>
          </a:prstGeom>
          <a:ln w="12700">
            <a:solidFill>
              <a:srgbClr val="7030A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657600" y="1600200"/>
            <a:ext cx="1905000" cy="685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304800" y="1600200"/>
            <a:ext cx="3352800" cy="5334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 flipV="1">
            <a:off x="3581400" y="2286000"/>
            <a:ext cx="1981200" cy="8382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fter_file_selection_cr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10200" y="4953000"/>
            <a:ext cx="3158537" cy="1509282"/>
          </a:xfrm>
          <a:prstGeom prst="rect">
            <a:avLst/>
          </a:prstGeom>
        </p:spPr>
      </p:pic>
      <p:pic>
        <p:nvPicPr>
          <p:cNvPr id="6" name="Picture 5" descr="after_file_selection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657600" y="3124200"/>
            <a:ext cx="5307231" cy="3623005"/>
          </a:xfrm>
          <a:prstGeom prst="rect">
            <a:avLst/>
          </a:prstGeom>
        </p:spPr>
      </p:pic>
      <p:pic>
        <p:nvPicPr>
          <p:cNvPr id="21" name="Picture 20" descr="after_file_selection_cr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38600" y="4648200"/>
            <a:ext cx="3691937" cy="1764162"/>
          </a:xfrm>
          <a:prstGeom prst="rect">
            <a:avLst/>
          </a:prstGeom>
          <a:ln w="12700">
            <a:solidFill>
              <a:srgbClr val="7030A0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7162800" y="3124200"/>
            <a:ext cx="1752600" cy="9144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rot="10800000" flipV="1">
            <a:off x="4038600" y="3124200"/>
            <a:ext cx="3124200" cy="15240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7086600" y="4648200"/>
            <a:ext cx="2438400" cy="12192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 Views</a:t>
            </a:r>
            <a:endParaRPr lang="en-US" dirty="0"/>
          </a:p>
        </p:txBody>
      </p:sp>
      <p:pic>
        <p:nvPicPr>
          <p:cNvPr id="4" name="Content Placeholder 3" descr="after_plot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600200"/>
            <a:ext cx="4876800" cy="3251200"/>
          </a:xfrm>
        </p:spPr>
      </p:pic>
      <p:pic>
        <p:nvPicPr>
          <p:cNvPr id="5" name="Picture 4" descr="after_more_plot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3429000"/>
            <a:ext cx="4876800" cy="3254140"/>
          </a:xfrm>
          <a:prstGeom prst="rect">
            <a:avLst/>
          </a:prstGeom>
        </p:spPr>
      </p:pic>
      <p:pic>
        <p:nvPicPr>
          <p:cNvPr id="6" name="Picture 5" descr="after_plot_cr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9800" y="533400"/>
            <a:ext cx="1339901" cy="2163450"/>
          </a:xfrm>
          <a:prstGeom prst="rect">
            <a:avLst/>
          </a:prstGeom>
          <a:ln w="12700">
            <a:solidFill>
              <a:srgbClr val="7030A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419600" y="1600200"/>
            <a:ext cx="609600" cy="990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419600" y="533400"/>
            <a:ext cx="1600200" cy="10668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029200" y="2590800"/>
            <a:ext cx="2286000" cy="76200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Uses: Quality Control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Can compare data from consecutive soundings</a:t>
            </a:r>
          </a:p>
          <a:p>
            <a:r>
              <a:rPr lang="en-US" dirty="0" smtClean="0"/>
              <a:t>Spot data that doesn’t make sense or is different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53894"/>
            <a:ext cx="9144000" cy="610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0" y="15240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PREDICT NWS Tampa Bay, FL Radiosonde Temperature Data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Uses: Scientific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Allows data to be compared and changes noted</a:t>
            </a:r>
          </a:p>
          <a:p>
            <a:r>
              <a:rPr lang="en-US" dirty="0" smtClean="0"/>
              <a:t>Variety of variables for flexibility in analysis</a:t>
            </a:r>
          </a:p>
          <a:p>
            <a:pPr lvl="1"/>
            <a:r>
              <a:rPr lang="en-US" dirty="0" smtClean="0"/>
              <a:t>27 different variable combinations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44394"/>
            <a:ext cx="9144000" cy="610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30480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ITOP_2010 USAF C-130 Dropsonde Pass Through Eye of Supertyphoon Megi</a:t>
            </a:r>
            <a:endParaRPr lang="en-US" sz="20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 l="32813" t="25000" r="21875" b="35156"/>
          <a:stretch>
            <a:fillRect/>
          </a:stretch>
        </p:blipFill>
        <p:spPr bwMode="auto">
          <a:xfrm>
            <a:off x="0" y="5181600"/>
            <a:ext cx="207981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 rot="5400000" flipH="1" flipV="1">
            <a:off x="762000" y="6324600"/>
            <a:ext cx="1524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Drag and Drop Zoom</a:t>
            </a:r>
          </a:p>
          <a:p>
            <a:pPr lvl="1"/>
            <a:r>
              <a:rPr lang="en-US" dirty="0" smtClean="0"/>
              <a:t>Easiest to use something other than gnuplot</a:t>
            </a:r>
          </a:p>
          <a:p>
            <a:r>
              <a:rPr lang="en-US" dirty="0" smtClean="0"/>
              <a:t>Skew-T</a:t>
            </a:r>
          </a:p>
          <a:p>
            <a:r>
              <a:rPr lang="en-US" dirty="0" smtClean="0"/>
              <a:t>Improved efficiency</a:t>
            </a:r>
          </a:p>
          <a:p>
            <a:pPr lvl="1"/>
            <a:r>
              <a:rPr lang="en-US" dirty="0" smtClean="0"/>
              <a:t>Javaplot or entirely different plotting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276600" cy="4572000"/>
          </a:xfrm>
        </p:spPr>
        <p:txBody>
          <a:bodyPr/>
          <a:lstStyle/>
          <a:p>
            <a:r>
              <a:rPr lang="en-US" dirty="0" err="1" smtClean="0"/>
              <a:t>Howto</a:t>
            </a:r>
            <a:r>
              <a:rPr lang="en-US" dirty="0" smtClean="0"/>
              <a:t> SCT</a:t>
            </a:r>
          </a:p>
          <a:p>
            <a:r>
              <a:rPr lang="en-US" dirty="0" smtClean="0"/>
              <a:t>SCT Report</a:t>
            </a:r>
          </a:p>
          <a:p>
            <a:r>
              <a:rPr lang="en-US" dirty="0" smtClean="0"/>
              <a:t>Regression Testing Suite with </a:t>
            </a:r>
            <a:r>
              <a:rPr lang="en-US" dirty="0" err="1" smtClean="0"/>
              <a:t>Howto</a:t>
            </a:r>
            <a:endParaRPr lang="en-US" dirty="0" smtClean="0"/>
          </a:p>
          <a:p>
            <a:r>
              <a:rPr lang="en-US" dirty="0" smtClean="0"/>
              <a:t>Flowchart</a:t>
            </a:r>
          </a:p>
          <a:p>
            <a:r>
              <a:rPr lang="en-US" dirty="0" smtClean="0"/>
              <a:t>Version Control (SVN)</a:t>
            </a:r>
            <a:endParaRPr lang="en-US" dirty="0"/>
          </a:p>
        </p:txBody>
      </p:sp>
      <p:pic>
        <p:nvPicPr>
          <p:cNvPr id="6" name="Content Placeholder 5" descr="flowchart.pn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3962400" y="2640587"/>
            <a:ext cx="4922165" cy="327735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for your time!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1078</TotalTime>
  <Words>479</Words>
  <Application>Microsoft Office PowerPoint</Application>
  <PresentationFormat>On-screen Show (4:3)</PresentationFormat>
  <Paragraphs>113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Median</vt:lpstr>
      <vt:lpstr>Summer 2011 Undergraduate Engineering Internship Presentation</vt:lpstr>
      <vt:lpstr>My Computer Science Background</vt:lpstr>
      <vt:lpstr>New Drupal Site</vt:lpstr>
      <vt:lpstr>XQC Software</vt:lpstr>
      <vt:lpstr>XQC Recommendation </vt:lpstr>
      <vt:lpstr>Sounding Comparison Tool (SCT)-  Key Features</vt:lpstr>
      <vt:lpstr>More SCT Mandatory Requirements</vt:lpstr>
      <vt:lpstr>Some SCT Desired Requirements</vt:lpstr>
      <vt:lpstr>Language and Tools</vt:lpstr>
      <vt:lpstr>Selecting Files</vt:lpstr>
      <vt:lpstr>Generating and Displaying the Plots</vt:lpstr>
      <vt:lpstr>Removing Files</vt:lpstr>
      <vt:lpstr>Error Handling</vt:lpstr>
      <vt:lpstr>Startup and File Selection</vt:lpstr>
      <vt:lpstr>Plot Views</vt:lpstr>
      <vt:lpstr>Software Uses: Quality Control</vt:lpstr>
      <vt:lpstr>Slide 17</vt:lpstr>
      <vt:lpstr>Software Uses: Scientific Analysis</vt:lpstr>
      <vt:lpstr>Slide 19</vt:lpstr>
      <vt:lpstr>Future Improvements</vt:lpstr>
      <vt:lpstr>Documentation</vt:lpstr>
      <vt:lpstr>Thanks for your time!</vt:lpstr>
    </vt:vector>
  </TitlesOfParts>
  <Company>NCAR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2011 Undergraduate Engineering Internship Presentation</dc:title>
  <dc:creator>mjacobs</dc:creator>
  <cp:lastModifiedBy>mjacobs</cp:lastModifiedBy>
  <cp:revision>89</cp:revision>
  <dcterms:created xsi:type="dcterms:W3CDTF">2011-07-29T19:25:33Z</dcterms:created>
  <dcterms:modified xsi:type="dcterms:W3CDTF">2011-08-04T20:59:07Z</dcterms:modified>
</cp:coreProperties>
</file>